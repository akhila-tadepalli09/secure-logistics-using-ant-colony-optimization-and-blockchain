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676400"/>
            <a:ext cx="7924800" cy="2057399"/>
          </a:xfrm>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Ensuring </a:t>
            </a:r>
            <a:r>
              <a:rPr lang="en-US" b="1" dirty="0" smtClean="0">
                <a:latin typeface="Times New Roman" pitchFamily="18" charset="0"/>
                <a:cs typeface="Times New Roman" pitchFamily="18" charset="0"/>
              </a:rPr>
              <a:t>the Security of Logistics Information &amp; Data Searching using Ant Colony Optimization &amp; </a:t>
            </a:r>
            <a:r>
              <a:rPr lang="en-US" b="1" dirty="0" err="1" smtClean="0">
                <a:latin typeface="Times New Roman" pitchFamily="18" charset="0"/>
                <a:cs typeface="Times New Roman" pitchFamily="18" charset="0"/>
              </a:rPr>
              <a:t>Blockchain</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Abstract</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US" sz="1800" dirty="0" smtClean="0">
                <a:latin typeface="Times New Roman" pitchFamily="18" charset="0"/>
                <a:cs typeface="Times New Roman" pitchFamily="18" charset="0"/>
              </a:rPr>
              <a:t>In the contemporary logistics landscape, the security of information and efficient data searching are critical. This paper presents a novel approach to securing logistics information and enhancing data retrieval using Ant Colony Optimization (ACO) and </a:t>
            </a:r>
            <a:r>
              <a:rPr lang="en-US" sz="1800" dirty="0" err="1" smtClean="0">
                <a:latin typeface="Times New Roman" pitchFamily="18" charset="0"/>
                <a:cs typeface="Times New Roman" pitchFamily="18" charset="0"/>
              </a:rPr>
              <a:t>Blockchain</a:t>
            </a:r>
            <a:r>
              <a:rPr lang="en-US" sz="1800" dirty="0" smtClean="0">
                <a:latin typeface="Times New Roman" pitchFamily="18" charset="0"/>
                <a:cs typeface="Times New Roman" pitchFamily="18" charset="0"/>
              </a:rPr>
              <a:t> technology. ACO, inspired by the foraging behavior of ants, is utilized to optimize data search processes, ensuring rapid and accurate retrieval of logistics information. Concurrently, </a:t>
            </a:r>
            <a:r>
              <a:rPr lang="en-US" sz="1800" dirty="0" err="1" smtClean="0">
                <a:latin typeface="Times New Roman" pitchFamily="18" charset="0"/>
                <a:cs typeface="Times New Roman" pitchFamily="18" charset="0"/>
              </a:rPr>
              <a:t>Blockchain</a:t>
            </a:r>
            <a:r>
              <a:rPr lang="en-US" sz="1800" dirty="0" smtClean="0">
                <a:latin typeface="Times New Roman" pitchFamily="18" charset="0"/>
                <a:cs typeface="Times New Roman" pitchFamily="18" charset="0"/>
              </a:rPr>
              <a:t> technology provides a robust security framework, ensuring data integrity, transparency, and immutability. By integrating these two advanced methodologies, we propose a system that not only optimizes the logistics data search process but also fortifies the security of the information against unauthorized access and tampering. The experimental results demonstrate that the proposed system significantly enhances search efficiency and data security, making it a viable solution for modern logistics challenges.</a:t>
            </a:r>
          </a:p>
          <a:p>
            <a:pPr algn="just">
              <a:buNone/>
            </a:pPr>
            <a:endParaRPr lang="en-US" sz="1800" dirty="0" smtClean="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Introduction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US" sz="1600" dirty="0" smtClean="0">
                <a:latin typeface="Times New Roman" pitchFamily="18" charset="0"/>
                <a:cs typeface="Times New Roman" pitchFamily="18" charset="0"/>
              </a:rPr>
              <a:t>In today's globalized world, the logistics industry plays a pivotal role in ensuring the smooth flow of goods and services. As the industry grows, so does the volume and complexity of the data it handles. This data encompasses various aspects such as shipment tracking, inventory management, delivery schedules, and customer information. Ensuring the security and efficiency of managing this data is paramount. However, traditional methods of data handling often fall short in addressing these challenges, leading to potential security breaches and </a:t>
            </a:r>
            <a:r>
              <a:rPr lang="en-US" sz="1600" dirty="0" err="1" smtClean="0">
                <a:latin typeface="Times New Roman" pitchFamily="18" charset="0"/>
                <a:cs typeface="Times New Roman" pitchFamily="18" charset="0"/>
              </a:rPr>
              <a:t>inefficiencies.To</a:t>
            </a:r>
            <a:r>
              <a:rPr lang="en-US" sz="1600" dirty="0" smtClean="0">
                <a:latin typeface="Times New Roman" pitchFamily="18" charset="0"/>
                <a:cs typeface="Times New Roman" pitchFamily="18" charset="0"/>
              </a:rPr>
              <a:t> address these issues, this paper proposes a novel approach that integrates Ant Colony Optimization (ACO) and </a:t>
            </a:r>
            <a:r>
              <a:rPr lang="en-US" sz="1600" dirty="0" err="1" smtClean="0">
                <a:latin typeface="Times New Roman" pitchFamily="18" charset="0"/>
                <a:cs typeface="Times New Roman" pitchFamily="18" charset="0"/>
              </a:rPr>
              <a:t>Blockchain</a:t>
            </a:r>
            <a:r>
              <a:rPr lang="en-US" sz="1600" dirty="0" smtClean="0">
                <a:latin typeface="Times New Roman" pitchFamily="18" charset="0"/>
                <a:cs typeface="Times New Roman" pitchFamily="18" charset="0"/>
              </a:rPr>
              <a:t> technology to enhance the security and efficiency of logistics information management. Ant Colony Optimization, inspired by the natural foraging behavior of ants, is an effective method for solving complex optimization problems. In the context of logistics, ACO can be employed to optimize data searching processes, ensuring faster and more accurate retrieval of </a:t>
            </a:r>
            <a:r>
              <a:rPr lang="en-US" sz="1600" dirty="0" err="1" smtClean="0">
                <a:latin typeface="Times New Roman" pitchFamily="18" charset="0"/>
                <a:cs typeface="Times New Roman" pitchFamily="18" charset="0"/>
              </a:rPr>
              <a:t>information.Blockchain</a:t>
            </a:r>
            <a:r>
              <a:rPr lang="en-US" sz="1600" dirty="0" smtClean="0">
                <a:latin typeface="Times New Roman" pitchFamily="18" charset="0"/>
                <a:cs typeface="Times New Roman" pitchFamily="18" charset="0"/>
              </a:rPr>
              <a:t> technology, on the other hand, offers a decentralized and secure framework for data storage and management. Its inherent characteristics of immutability, transparency, and cryptographic security make it an ideal solution for protecting sensitive logistics data from unauthorized access and tampering. </a:t>
            </a:r>
            <a:endParaRPr lang="en-US" sz="16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Literature Survey</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gn="just"/>
            <a:r>
              <a:rPr lang="en-US" dirty="0" smtClean="0">
                <a:latin typeface="Times New Roman" pitchFamily="18" charset="0"/>
                <a:cs typeface="Times New Roman" pitchFamily="18" charset="0"/>
              </a:rPr>
              <a:t>The logistics industry has increasingly recognized the importance of secure and efficient data management. Various approaches have been explored to enhance data security and search optimization, with Ant Colony Optimization (ACO) and </a:t>
            </a:r>
            <a:r>
              <a:rPr lang="en-US" dirty="0" err="1" smtClean="0">
                <a:latin typeface="Times New Roman" pitchFamily="18" charset="0"/>
                <a:cs typeface="Times New Roman" pitchFamily="18" charset="0"/>
              </a:rPr>
              <a:t>Blockchain</a:t>
            </a:r>
            <a:r>
              <a:rPr lang="en-US" dirty="0" smtClean="0">
                <a:latin typeface="Times New Roman" pitchFamily="18" charset="0"/>
                <a:cs typeface="Times New Roman" pitchFamily="18" charset="0"/>
              </a:rPr>
              <a:t> technology emerging as promising solutions. This literature survey reviews key studies and advancements in these fields, highlighting their relevance and potential integration for logistics information management.</a:t>
            </a:r>
          </a:p>
          <a:p>
            <a:pPr algn="just"/>
            <a:r>
              <a:rPr lang="en-US" b="1" dirty="0" smtClean="0">
                <a:latin typeface="Times New Roman" pitchFamily="18" charset="0"/>
                <a:cs typeface="Times New Roman" pitchFamily="18" charset="0"/>
              </a:rPr>
              <a:t>Ant Colony Optimization in Logistics</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Ant Colony Optimization (ACO), introduced by </a:t>
            </a:r>
            <a:r>
              <a:rPr lang="en-US" dirty="0" err="1" smtClean="0">
                <a:latin typeface="Times New Roman" pitchFamily="18" charset="0"/>
                <a:cs typeface="Times New Roman" pitchFamily="18" charset="0"/>
              </a:rPr>
              <a:t>Dorigo</a:t>
            </a:r>
            <a:r>
              <a:rPr lang="en-US" dirty="0" smtClean="0">
                <a:latin typeface="Times New Roman" pitchFamily="18" charset="0"/>
                <a:cs typeface="Times New Roman" pitchFamily="18" charset="0"/>
              </a:rPr>
              <a:t> and colleagues in the early 1990s, is a </a:t>
            </a:r>
            <a:r>
              <a:rPr lang="en-US" dirty="0" err="1" smtClean="0">
                <a:latin typeface="Times New Roman" pitchFamily="18" charset="0"/>
                <a:cs typeface="Times New Roman" pitchFamily="18" charset="0"/>
              </a:rPr>
              <a:t>metaheuristic</a:t>
            </a:r>
            <a:r>
              <a:rPr lang="en-US" dirty="0" smtClean="0">
                <a:latin typeface="Times New Roman" pitchFamily="18" charset="0"/>
                <a:cs typeface="Times New Roman" pitchFamily="18" charset="0"/>
              </a:rPr>
              <a:t> inspired by the foraging behavior of ants. ACO has been widely applied to solve optimization problems in logistics, including vehicle routing, supply chain management, and warehouse optimization.</a:t>
            </a:r>
          </a:p>
          <a:p>
            <a:pPr lvl="0" algn="just"/>
            <a:r>
              <a:rPr lang="en-US" b="1" dirty="0" smtClean="0">
                <a:latin typeface="Times New Roman" pitchFamily="18" charset="0"/>
                <a:cs typeface="Times New Roman" pitchFamily="18" charset="0"/>
              </a:rPr>
              <a:t>Vehicle Routing Problems (VRP):</a:t>
            </a:r>
            <a:r>
              <a:rPr lang="en-US" dirty="0" smtClean="0">
                <a:latin typeface="Times New Roman" pitchFamily="18" charset="0"/>
                <a:cs typeface="Times New Roman" pitchFamily="18" charset="0"/>
              </a:rPr>
              <a:t> Researchers have extensively applied ACO to the VRP, demonstrating its effectiveness in finding optimal routes for delivery vehicles. For instance, Bell and McMullen (2004) utilized ACO to minimize travel distance and delivery time, significantly improving logistics efficiency.</a:t>
            </a:r>
          </a:p>
          <a:p>
            <a:pPr algn="just"/>
            <a:endParaRPr 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Literature </a:t>
            </a:r>
            <a:r>
              <a:rPr lang="en-US" b="1" dirty="0" smtClean="0">
                <a:latin typeface="Times New Roman" pitchFamily="18" charset="0"/>
                <a:cs typeface="Times New Roman" pitchFamily="18" charset="0"/>
              </a:rPr>
              <a:t>Survey </a:t>
            </a:r>
            <a:r>
              <a:rPr lang="en-US" sz="4000" b="1" dirty="0" smtClean="0">
                <a:latin typeface="Times New Roman" pitchFamily="18" charset="0"/>
                <a:cs typeface="Times New Roman" pitchFamily="18" charset="0"/>
              </a:rPr>
              <a:t>Contd</a:t>
            </a:r>
            <a:r>
              <a:rPr lang="en-US" b="1" dirty="0" smtClean="0">
                <a:latin typeface="Times New Roman" pitchFamily="18" charset="0"/>
                <a:cs typeface="Times New Roman" pitchFamily="18" charset="0"/>
              </a:rPr>
              <a:t>.,</a:t>
            </a:r>
            <a:endParaRPr lang="en-US" dirty="0"/>
          </a:p>
        </p:txBody>
      </p:sp>
      <p:sp>
        <p:nvSpPr>
          <p:cNvPr id="3" name="Content Placeholder 2"/>
          <p:cNvSpPr>
            <a:spLocks noGrp="1"/>
          </p:cNvSpPr>
          <p:nvPr>
            <p:ph idx="1"/>
          </p:nvPr>
        </p:nvSpPr>
        <p:spPr/>
        <p:txBody>
          <a:bodyPr>
            <a:normAutofit/>
          </a:bodyPr>
          <a:lstStyle/>
          <a:p>
            <a:pPr lvl="0" algn="just"/>
            <a:r>
              <a:rPr lang="en-US" sz="2000" b="1" dirty="0" smtClean="0">
                <a:latin typeface="Times New Roman" pitchFamily="18" charset="0"/>
                <a:cs typeface="Times New Roman" pitchFamily="18" charset="0"/>
              </a:rPr>
              <a:t>Supply Chain Optimization:</a:t>
            </a:r>
            <a:r>
              <a:rPr lang="en-US" sz="2000" dirty="0" smtClean="0">
                <a:latin typeface="Times New Roman" pitchFamily="18" charset="0"/>
                <a:cs typeface="Times New Roman" pitchFamily="18" charset="0"/>
              </a:rPr>
              <a:t> ACO has been employed to optimize supply chain operations, including inventory management and order fulfillment. A study by </a:t>
            </a:r>
            <a:r>
              <a:rPr lang="en-US" sz="2000" dirty="0" err="1" smtClean="0">
                <a:latin typeface="Times New Roman" pitchFamily="18" charset="0"/>
                <a:cs typeface="Times New Roman" pitchFamily="18" charset="0"/>
              </a:rPr>
              <a:t>Reimann</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Doerner</a:t>
            </a:r>
            <a:r>
              <a:rPr lang="en-US" sz="2000" dirty="0" smtClean="0">
                <a:latin typeface="Times New Roman" pitchFamily="18" charset="0"/>
                <a:cs typeface="Times New Roman" pitchFamily="18" charset="0"/>
              </a:rPr>
              <a:t>, and </a:t>
            </a:r>
            <a:r>
              <a:rPr lang="en-US" sz="2000" dirty="0" err="1" smtClean="0">
                <a:latin typeface="Times New Roman" pitchFamily="18" charset="0"/>
                <a:cs typeface="Times New Roman" pitchFamily="18" charset="0"/>
              </a:rPr>
              <a:t>Hartl</a:t>
            </a:r>
            <a:r>
              <a:rPr lang="en-US" sz="2000" dirty="0" smtClean="0">
                <a:latin typeface="Times New Roman" pitchFamily="18" charset="0"/>
                <a:cs typeface="Times New Roman" pitchFamily="18" charset="0"/>
              </a:rPr>
              <a:t> (2004) showcased how ACO could optimize supply chain processes, reducing costs and improving service levels.</a:t>
            </a:r>
          </a:p>
          <a:p>
            <a:pPr lvl="0" algn="just"/>
            <a:r>
              <a:rPr lang="en-US" sz="2000" b="1" dirty="0" smtClean="0">
                <a:latin typeface="Times New Roman" pitchFamily="18" charset="0"/>
                <a:cs typeface="Times New Roman" pitchFamily="18" charset="0"/>
              </a:rPr>
              <a:t>Warehouse Management:</a:t>
            </a:r>
            <a:r>
              <a:rPr lang="en-US" sz="2000" dirty="0" smtClean="0">
                <a:latin typeface="Times New Roman" pitchFamily="18" charset="0"/>
                <a:cs typeface="Times New Roman" pitchFamily="18" charset="0"/>
              </a:rPr>
              <a:t> In the context of warehouse management, ACO has been used to streamline storage and retrieval operations. </a:t>
            </a:r>
            <a:r>
              <a:rPr lang="en-US" sz="2000" dirty="0" err="1" smtClean="0">
                <a:latin typeface="Times New Roman" pitchFamily="18" charset="0"/>
                <a:cs typeface="Times New Roman" pitchFamily="18" charset="0"/>
              </a:rPr>
              <a:t>Hu</a:t>
            </a:r>
            <a:r>
              <a:rPr lang="en-US" sz="2000" dirty="0" smtClean="0">
                <a:latin typeface="Times New Roman" pitchFamily="18" charset="0"/>
                <a:cs typeface="Times New Roman" pitchFamily="18" charset="0"/>
              </a:rPr>
              <a:t> et al. (2015) demonstrated the application of ACO in optimizing warehouse layouts, leading to enhanced operational efficiency.</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Existing System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gn="just"/>
            <a:r>
              <a:rPr lang="en-US" dirty="0" smtClean="0">
                <a:latin typeface="Times New Roman" pitchFamily="18" charset="0"/>
                <a:cs typeface="Times New Roman" pitchFamily="18" charset="0"/>
              </a:rPr>
              <a:t>In the realm of logistics, current systems for managing information and securing data predominantly rely on traditional database management systems (DBMS) and standard security protocols. Centralized databases, managed by a central authority, store logistics data in a single location, often leading to inefficiencies as the data volume grows, resulting in slower search operations and higher resource consumption. Traditional search algorithms, such as linear and binary searches, and indexing techniques like B-trees or hash indexing, can become less effective with large-scale and dynamic datasets. On the security front, these systems employ data encryption (e.g., AES) to protect data at rest and in transit, role-based access control (RBAC) to restrict access based on user roles, and audit logs to track data access and modifications. However, these measures are not foolproof. Centralized systems are vulnerable to single points of failure, making them susceptible to cyber-attacks, system crashes, and data loss. They also face scalability issues, requiring significant infrastructure upgrades to handle growing data volumes, and are prone to various security threats, including data breaches and insider attacks. Despite these efforts, ensuring data integrity, authenticity, and efficient data retrieval remains challenging.</a:t>
            </a:r>
          </a:p>
          <a:p>
            <a:pPr algn="just">
              <a:buNone/>
            </a:pP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Draw Backs </a:t>
            </a:r>
            <a:br>
              <a:rPr lang="en-US" b="1" dirty="0" smtClean="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algn="just"/>
            <a:r>
              <a:rPr lang="en-US" b="1" dirty="0" smtClean="0">
                <a:latin typeface="Times New Roman" pitchFamily="18" charset="0"/>
                <a:cs typeface="Times New Roman" pitchFamily="18" charset="0"/>
              </a:rPr>
              <a:t>Limitations of Existing Systems</a:t>
            </a:r>
            <a:endParaRPr lang="en-US" sz="2400"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Despite the implementation of the aforementioned mechanisms, existing systems exhibit several critical limitations:</a:t>
            </a:r>
            <a:endParaRPr lang="en-US" sz="2400"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Single Point of Failure:</a:t>
            </a:r>
            <a:endParaRPr lang="en-US" sz="2400" dirty="0" smtClean="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Centralized databases are vulnerable to single points of failure, making them susceptible to cyber-attacks, system crashes, and data loss.</a:t>
            </a:r>
            <a:endParaRPr lang="en-US" sz="2000"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Scalability Issues:</a:t>
            </a:r>
            <a:endParaRPr lang="en-US" sz="2400" dirty="0" smtClean="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As logistics operations grow, the volume of data increases exponentially, making it challenging for traditional systems to scale efficiently without significant infrastructure upgrades.</a:t>
            </a:r>
            <a:endParaRPr lang="en-US" sz="2000"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Security Vulnerabilities:</a:t>
            </a:r>
            <a:endParaRPr lang="en-US" sz="2400" dirty="0" smtClean="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Centralized systems are prone to various security threats, including data breaches, unauthorized access, and insider attacks. Ensuring data integrity and authenticity remains a persistent challenge.</a:t>
            </a:r>
            <a:endParaRPr lang="en-US" sz="2000"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Proposed System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1800" dirty="0" smtClean="0">
                <a:latin typeface="Times New Roman" pitchFamily="18" charset="0"/>
                <a:cs typeface="Times New Roman" pitchFamily="18" charset="0"/>
              </a:rPr>
              <a:t>The proposed system integrates Ant Colony Optimization (ACO) and </a:t>
            </a:r>
            <a:r>
              <a:rPr lang="en-US" sz="1800" dirty="0" err="1" smtClean="0">
                <a:latin typeface="Times New Roman" pitchFamily="18" charset="0"/>
                <a:cs typeface="Times New Roman" pitchFamily="18" charset="0"/>
              </a:rPr>
              <a:t>Blockchain</a:t>
            </a:r>
            <a:r>
              <a:rPr lang="en-US" sz="1800" dirty="0" smtClean="0">
                <a:latin typeface="Times New Roman" pitchFamily="18" charset="0"/>
                <a:cs typeface="Times New Roman" pitchFamily="18" charset="0"/>
              </a:rPr>
              <a:t> technology to address the inefficiencies and security vulnerabilities of traditional logistics information management systems. ACO, inspired by the natural foraging behavior of ants, is utilized to optimize data search processes, significantly enhancing search efficiency and accuracy. By employing ACO, the system can quickly find the most efficient paths for data retrieval, even in large and complex datasets. Concurrently, </a:t>
            </a:r>
            <a:r>
              <a:rPr lang="en-US" sz="1800" dirty="0" err="1" smtClean="0">
                <a:latin typeface="Times New Roman" pitchFamily="18" charset="0"/>
                <a:cs typeface="Times New Roman" pitchFamily="18" charset="0"/>
              </a:rPr>
              <a:t>Blockchain</a:t>
            </a:r>
            <a:r>
              <a:rPr lang="en-US" sz="1800" dirty="0" smtClean="0">
                <a:latin typeface="Times New Roman" pitchFamily="18" charset="0"/>
                <a:cs typeface="Times New Roman" pitchFamily="18" charset="0"/>
              </a:rPr>
              <a:t> technology provides a decentralized and secure framework for data storage and management. Its characteristics of immutability, transparency, and cryptographic security ensure that logistics data is protected from unauthorized access and tampering. By recording all transactions on a tamper-proof ledger, </a:t>
            </a:r>
            <a:r>
              <a:rPr lang="en-US" sz="1800" dirty="0" err="1" smtClean="0">
                <a:latin typeface="Times New Roman" pitchFamily="18" charset="0"/>
                <a:cs typeface="Times New Roman" pitchFamily="18" charset="0"/>
              </a:rPr>
              <a:t>Blockchain</a:t>
            </a:r>
            <a:r>
              <a:rPr lang="en-US" sz="1800" dirty="0" smtClean="0">
                <a:latin typeface="Times New Roman" pitchFamily="18" charset="0"/>
                <a:cs typeface="Times New Roman" pitchFamily="18" charset="0"/>
              </a:rPr>
              <a:t> enhances data integrity and trust. The synergy between ACO and </a:t>
            </a:r>
            <a:r>
              <a:rPr lang="en-US" sz="1800" dirty="0" err="1" smtClean="0">
                <a:latin typeface="Times New Roman" pitchFamily="18" charset="0"/>
                <a:cs typeface="Times New Roman" pitchFamily="18" charset="0"/>
              </a:rPr>
              <a:t>Blockchain</a:t>
            </a:r>
            <a:r>
              <a:rPr lang="en-US" sz="1800" dirty="0" smtClean="0">
                <a:latin typeface="Times New Roman" pitchFamily="18" charset="0"/>
                <a:cs typeface="Times New Roman" pitchFamily="18" charset="0"/>
              </a:rPr>
              <a:t> creates a robust system where optimized data searching is paired with enhanced security measures. This integration not only streamlines logistics operations but also ensures that all data remains secure and verifiable, addressing the dual challenges of data search efficiency and security in modern logistics.</a:t>
            </a:r>
          </a:p>
          <a:p>
            <a:pPr algn="just"/>
            <a:endParaRPr lang="en-US" sz="18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Advantages </a:t>
            </a:r>
            <a:r>
              <a:rPr lang="en-US" b="1" dirty="0" smtClean="0">
                <a:latin typeface="Times New Roman" pitchFamily="18" charset="0"/>
                <a:cs typeface="Times New Roman" pitchFamily="18" charset="0"/>
              </a:rPr>
              <a:t>of the Proposed System</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876800"/>
          </a:xfrm>
        </p:spPr>
        <p:txBody>
          <a:bodyPr>
            <a:noAutofit/>
          </a:bodyPr>
          <a:lstStyle/>
          <a:p>
            <a:pPr algn="just"/>
            <a:r>
              <a:rPr lang="en-US" sz="2000" dirty="0" smtClean="0">
                <a:latin typeface="Times New Roman" pitchFamily="18" charset="0"/>
                <a:cs typeface="Times New Roman" pitchFamily="18" charset="0"/>
              </a:rPr>
              <a:t>Integrating Ant Colony Optimization (ACO) and </a:t>
            </a:r>
            <a:r>
              <a:rPr lang="en-US" sz="2000" dirty="0" err="1" smtClean="0">
                <a:latin typeface="Times New Roman" pitchFamily="18" charset="0"/>
                <a:cs typeface="Times New Roman" pitchFamily="18" charset="0"/>
              </a:rPr>
              <a:t>Blockchain</a:t>
            </a:r>
            <a:r>
              <a:rPr lang="en-US" sz="2000" dirty="0" smtClean="0">
                <a:latin typeface="Times New Roman" pitchFamily="18" charset="0"/>
                <a:cs typeface="Times New Roman" pitchFamily="18" charset="0"/>
              </a:rPr>
              <a:t> technology into logistics information management offers several significant advantages, addressing both efficiency and security concerns. Here are the key benefits of the proposed system:</a:t>
            </a:r>
            <a:endParaRPr lang="en-US" sz="1400" dirty="0" smtClean="0">
              <a:latin typeface="Times New Roman" pitchFamily="18" charset="0"/>
              <a:cs typeface="Times New Roman" pitchFamily="18" charset="0"/>
            </a:endParaRPr>
          </a:p>
          <a:p>
            <a:pPr marL="457200" lvl="0" indent="-457200" algn="just">
              <a:buFont typeface="+mj-lt"/>
              <a:buAutoNum type="arabicPeriod"/>
            </a:pPr>
            <a:r>
              <a:rPr lang="en-US" sz="2000" b="1" dirty="0" smtClean="0">
                <a:latin typeface="Times New Roman" pitchFamily="18" charset="0"/>
                <a:cs typeface="Times New Roman" pitchFamily="18" charset="0"/>
              </a:rPr>
              <a:t>Enhanced Search Efficiency:</a:t>
            </a:r>
            <a:endParaRPr lang="en-US" sz="1400" dirty="0" smtClean="0">
              <a:latin typeface="Times New Roman" pitchFamily="18" charset="0"/>
              <a:cs typeface="Times New Roman" pitchFamily="18" charset="0"/>
            </a:endParaRPr>
          </a:p>
          <a:p>
            <a:pPr marL="800100" lvl="1" indent="-342900" algn="just">
              <a:buFont typeface="+mj-lt"/>
              <a:buAutoNum type="arabicPeriod"/>
            </a:pPr>
            <a:r>
              <a:rPr lang="en-US" sz="1600" b="1" dirty="0" smtClean="0">
                <a:latin typeface="Times New Roman" pitchFamily="18" charset="0"/>
                <a:cs typeface="Times New Roman" pitchFamily="18" charset="0"/>
              </a:rPr>
              <a:t>Optimal Path Finding:</a:t>
            </a:r>
            <a:r>
              <a:rPr lang="en-US" sz="1600" dirty="0" smtClean="0">
                <a:latin typeface="Times New Roman" pitchFamily="18" charset="0"/>
                <a:cs typeface="Times New Roman" pitchFamily="18" charset="0"/>
              </a:rPr>
              <a:t> ACO algorithms excel at finding the most efficient paths for data retrieval, reducing search times and improving accuracy. This leads to faster access to critical logistics information, enhancing overall operational efficiency.</a:t>
            </a:r>
            <a:endParaRPr lang="en-US" sz="1200" dirty="0" smtClean="0">
              <a:latin typeface="Times New Roman" pitchFamily="18" charset="0"/>
              <a:cs typeface="Times New Roman" pitchFamily="18" charset="0"/>
            </a:endParaRPr>
          </a:p>
          <a:p>
            <a:pPr marL="800100" lvl="1" indent="-342900" algn="just">
              <a:buFont typeface="+mj-lt"/>
              <a:buAutoNum type="arabicPeriod"/>
            </a:pPr>
            <a:r>
              <a:rPr lang="en-US" sz="1600" b="1" dirty="0" smtClean="0">
                <a:latin typeface="Times New Roman" pitchFamily="18" charset="0"/>
                <a:cs typeface="Times New Roman" pitchFamily="18" charset="0"/>
              </a:rPr>
              <a:t>Scalability:</a:t>
            </a:r>
            <a:r>
              <a:rPr lang="en-US" sz="1600" dirty="0" smtClean="0">
                <a:latin typeface="Times New Roman" pitchFamily="18" charset="0"/>
                <a:cs typeface="Times New Roman" pitchFamily="18" charset="0"/>
              </a:rPr>
              <a:t> The adaptive nature of ACO allows the system to scale effectively with increasing data volumes, maintaining high performance even as the dataset grows.</a:t>
            </a:r>
            <a:endParaRPr lang="en-US" sz="1200" dirty="0" smtClean="0">
              <a:latin typeface="Times New Roman" pitchFamily="18" charset="0"/>
              <a:cs typeface="Times New Roman" pitchFamily="18" charset="0"/>
            </a:endParaRPr>
          </a:p>
          <a:p>
            <a:pPr marL="457200" lvl="0" indent="-457200" algn="just">
              <a:buFont typeface="+mj-lt"/>
              <a:buAutoNum type="arabicPeriod"/>
            </a:pPr>
            <a:r>
              <a:rPr lang="en-US" sz="2000" b="1" dirty="0" smtClean="0">
                <a:latin typeface="Times New Roman" pitchFamily="18" charset="0"/>
                <a:cs typeface="Times New Roman" pitchFamily="18" charset="0"/>
              </a:rPr>
              <a:t>Improved Data Security:</a:t>
            </a:r>
            <a:endParaRPr lang="en-US" sz="1400" dirty="0" smtClean="0">
              <a:latin typeface="Times New Roman" pitchFamily="18" charset="0"/>
              <a:cs typeface="Times New Roman" pitchFamily="18" charset="0"/>
            </a:endParaRPr>
          </a:p>
          <a:p>
            <a:pPr marL="800100" lvl="1" indent="-342900" algn="just">
              <a:buFont typeface="+mj-lt"/>
              <a:buAutoNum type="arabicPeriod"/>
            </a:pPr>
            <a:r>
              <a:rPr lang="en-US" sz="1600" b="1" dirty="0" smtClean="0">
                <a:latin typeface="Times New Roman" pitchFamily="18" charset="0"/>
                <a:cs typeface="Times New Roman" pitchFamily="18" charset="0"/>
              </a:rPr>
              <a:t>Decentralization: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Blockchain's</a:t>
            </a:r>
            <a:r>
              <a:rPr lang="en-US" sz="1600" dirty="0" smtClean="0">
                <a:latin typeface="Times New Roman" pitchFamily="18" charset="0"/>
                <a:cs typeface="Times New Roman" pitchFamily="18" charset="0"/>
              </a:rPr>
              <a:t> decentralized architecture eliminates single points of failure, making the system more resilient to cyber-attacks and reducing the risk of data loss.</a:t>
            </a:r>
            <a:endParaRPr lang="en-US" sz="1200" dirty="0" smtClean="0">
              <a:latin typeface="Times New Roman" pitchFamily="18" charset="0"/>
              <a:cs typeface="Times New Roman" pitchFamily="18" charset="0"/>
            </a:endParaRPr>
          </a:p>
          <a:p>
            <a:pPr marL="800100" lvl="1" indent="-342900" algn="just">
              <a:buFont typeface="+mj-lt"/>
              <a:buAutoNum type="arabicPeriod"/>
            </a:pPr>
            <a:r>
              <a:rPr lang="en-US" sz="1600" b="1" dirty="0" smtClean="0">
                <a:latin typeface="Times New Roman" pitchFamily="18" charset="0"/>
                <a:cs typeface="Times New Roman" pitchFamily="18" charset="0"/>
              </a:rPr>
              <a:t>Immutable Records:</a:t>
            </a:r>
            <a:r>
              <a:rPr lang="en-US" sz="1600" dirty="0" smtClean="0">
                <a:latin typeface="Times New Roman" pitchFamily="18" charset="0"/>
                <a:cs typeface="Times New Roman" pitchFamily="18" charset="0"/>
              </a:rPr>
              <a:t> The immutability of </a:t>
            </a:r>
            <a:r>
              <a:rPr lang="en-US" sz="1600" dirty="0" err="1" smtClean="0">
                <a:latin typeface="Times New Roman" pitchFamily="18" charset="0"/>
                <a:cs typeface="Times New Roman" pitchFamily="18" charset="0"/>
              </a:rPr>
              <a:t>Blockchain</a:t>
            </a:r>
            <a:r>
              <a:rPr lang="en-US" sz="1600" dirty="0" smtClean="0">
                <a:latin typeface="Times New Roman" pitchFamily="18" charset="0"/>
                <a:cs typeface="Times New Roman" pitchFamily="18" charset="0"/>
              </a:rPr>
              <a:t> ensures that once data is recorded, it cannot be altered or deleted, providing a secure and tamper-proof record of all transactions.</a:t>
            </a:r>
            <a:endParaRPr lang="en-US" sz="12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System Requirements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buNone/>
            </a:pPr>
            <a:r>
              <a:rPr lang="en-US"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H/W </a:t>
            </a:r>
            <a:r>
              <a:rPr lang="en-US" sz="3600" b="1" dirty="0" smtClean="0">
                <a:latin typeface="Times New Roman" pitchFamily="18" charset="0"/>
                <a:cs typeface="Times New Roman" pitchFamily="18" charset="0"/>
              </a:rPr>
              <a:t>System Configuration</a:t>
            </a:r>
            <a:r>
              <a:rPr lang="en-US" sz="3600" b="1" dirty="0" smtClean="0">
                <a:latin typeface="Times New Roman" pitchFamily="18" charset="0"/>
                <a:cs typeface="Times New Roman" pitchFamily="18" charset="0"/>
              </a:rPr>
              <a:t>:-</a:t>
            </a:r>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Processor                      </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Pentium </a:t>
            </a:r>
            <a:r>
              <a:rPr lang="en-US"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IV</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RAM                             -   </a:t>
            </a:r>
            <a:r>
              <a:rPr lang="en-US" dirty="0" smtClean="0">
                <a:latin typeface="Times New Roman" pitchFamily="18" charset="0"/>
                <a:cs typeface="Times New Roman" pitchFamily="18" charset="0"/>
              </a:rPr>
              <a:t>4 GB (min)</a:t>
            </a:r>
          </a:p>
          <a:p>
            <a:r>
              <a:rPr lang="en-US" dirty="0" smtClean="0">
                <a:latin typeface="Times New Roman" pitchFamily="18" charset="0"/>
                <a:cs typeface="Times New Roman" pitchFamily="18" charset="0"/>
              </a:rPr>
              <a:t>Hard </a:t>
            </a:r>
            <a:r>
              <a:rPr lang="en-US" dirty="0" smtClean="0">
                <a:latin typeface="Times New Roman" pitchFamily="18" charset="0"/>
                <a:cs typeface="Times New Roman" pitchFamily="18" charset="0"/>
              </a:rPr>
              <a:t>Disk                      -   20 GB</a:t>
            </a:r>
          </a:p>
          <a:p>
            <a:r>
              <a:rPr lang="en-US" dirty="0" smtClean="0">
                <a:latin typeface="Times New Roman" pitchFamily="18" charset="0"/>
                <a:cs typeface="Times New Roman" pitchFamily="18" charset="0"/>
              </a:rPr>
              <a:t>Key </a:t>
            </a:r>
            <a:r>
              <a:rPr lang="en-US" dirty="0" smtClean="0">
                <a:latin typeface="Times New Roman" pitchFamily="18" charset="0"/>
                <a:cs typeface="Times New Roman" pitchFamily="18" charset="0"/>
              </a:rPr>
              <a:t>Board                     -    Standard Windows Keyboard</a:t>
            </a:r>
          </a:p>
          <a:p>
            <a:r>
              <a:rPr lang="en-US" dirty="0" smtClean="0">
                <a:latin typeface="Times New Roman" pitchFamily="18" charset="0"/>
                <a:cs typeface="Times New Roman" pitchFamily="18" charset="0"/>
              </a:rPr>
              <a:t>Mouse                            </a:t>
            </a:r>
            <a:r>
              <a:rPr lang="en-US" dirty="0" smtClean="0">
                <a:latin typeface="Times New Roman" pitchFamily="18" charset="0"/>
                <a:cs typeface="Times New Roman" pitchFamily="18" charset="0"/>
              </a:rPr>
              <a:t>-    Two or Three Button Mouse</a:t>
            </a:r>
          </a:p>
          <a:p>
            <a:r>
              <a:rPr lang="en-US" dirty="0" smtClean="0">
                <a:latin typeface="Times New Roman" pitchFamily="18" charset="0"/>
                <a:cs typeface="Times New Roman" pitchFamily="18" charset="0"/>
              </a:rPr>
              <a:t>Monitor                          </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SVGA</a:t>
            </a: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SOFTWARE REQUIREMENTS:</a:t>
            </a:r>
            <a:endParaRPr lang="en-US" b="1"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Operating </a:t>
            </a:r>
            <a:r>
              <a:rPr lang="en-US" dirty="0" smtClean="0">
                <a:latin typeface="Times New Roman" pitchFamily="18" charset="0"/>
                <a:cs typeface="Times New Roman" pitchFamily="18" charset="0"/>
              </a:rPr>
              <a:t>system 	:   Windows 7 Ultimate.</a:t>
            </a:r>
          </a:p>
          <a:p>
            <a:pPr lvl="0"/>
            <a:r>
              <a:rPr lang="en-US" dirty="0" smtClean="0">
                <a:latin typeface="Times New Roman" pitchFamily="18" charset="0"/>
                <a:cs typeface="Times New Roman" pitchFamily="18" charset="0"/>
              </a:rPr>
              <a:t>Coding Language	</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Python.</a:t>
            </a:r>
          </a:p>
          <a:p>
            <a:pPr lvl="0"/>
            <a:r>
              <a:rPr lang="en-US" dirty="0" smtClean="0">
                <a:latin typeface="Times New Roman" pitchFamily="18" charset="0"/>
                <a:cs typeface="Times New Roman" pitchFamily="18" charset="0"/>
              </a:rPr>
              <a:t>Front-End		</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Python.</a:t>
            </a:r>
          </a:p>
          <a:p>
            <a:pPr lvl="0"/>
            <a:r>
              <a:rPr lang="en-US" dirty="0" smtClean="0">
                <a:latin typeface="Times New Roman" pitchFamily="18" charset="0"/>
                <a:cs typeface="Times New Roman" pitchFamily="18" charset="0"/>
              </a:rPr>
              <a:t>Back-End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Django</a:t>
            </a:r>
            <a:r>
              <a:rPr lang="en-US" dirty="0" smtClean="0">
                <a:latin typeface="Times New Roman" pitchFamily="18" charset="0"/>
                <a:cs typeface="Times New Roman" pitchFamily="18" charset="0"/>
              </a:rPr>
              <a:t>-ORM</a:t>
            </a:r>
          </a:p>
          <a:p>
            <a:pPr lvl="0"/>
            <a:r>
              <a:rPr lang="en-US" dirty="0" smtClean="0">
                <a:latin typeface="Times New Roman" pitchFamily="18" charset="0"/>
                <a:cs typeface="Times New Roman" pitchFamily="18" charset="0"/>
              </a:rPr>
              <a:t>Designing		</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Html, </a:t>
            </a:r>
            <a:r>
              <a:rPr lang="en-US" dirty="0" err="1" smtClean="0">
                <a:latin typeface="Times New Roman" pitchFamily="18" charset="0"/>
                <a:cs typeface="Times New Roman" pitchFamily="18" charset="0"/>
              </a:rPr>
              <a:t>css</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javascript</a:t>
            </a:r>
            <a:r>
              <a:rPr lang="en-US" dirty="0" smtClean="0">
                <a:latin typeface="Times New Roman" pitchFamily="18" charset="0"/>
                <a:cs typeface="Times New Roman" pitchFamily="18" charset="0"/>
              </a:rPr>
              <a:t>.</a:t>
            </a:r>
          </a:p>
          <a:p>
            <a:pPr lvl="0"/>
            <a:r>
              <a:rPr lang="en-US" dirty="0" smtClean="0">
                <a:latin typeface="Times New Roman" pitchFamily="18" charset="0"/>
                <a:cs typeface="Times New Roman" pitchFamily="18" charset="0"/>
              </a:rPr>
              <a:t>Data Base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MySQL</a:t>
            </a:r>
            <a:r>
              <a:rPr lang="en-US" dirty="0" smtClean="0">
                <a:latin typeface="Times New Roman" pitchFamily="18" charset="0"/>
                <a:cs typeface="Times New Roman" pitchFamily="18" charset="0"/>
              </a:rPr>
              <a:t> (WAMP Server).</a:t>
            </a:r>
          </a:p>
          <a:p>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System Architecture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4" name="Content Placeholder 3" descr="C:\Users\GENIUS\Desktop\mp.jpg"/>
          <p:cNvPicPr>
            <a:picLocks noGrp="1"/>
          </p:cNvPicPr>
          <p:nvPr>
            <p:ph idx="1"/>
          </p:nvPr>
        </p:nvPicPr>
        <p:blipFill>
          <a:blip r:embed="rId2"/>
          <a:srcRect/>
          <a:stretch>
            <a:fillRect/>
          </a:stretch>
        </p:blipFill>
        <p:spPr bwMode="auto">
          <a:xfrm>
            <a:off x="838200" y="1600200"/>
            <a:ext cx="7238999" cy="43434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err="1" smtClean="0">
                <a:latin typeface="Times New Roman" pitchFamily="18" charset="0"/>
                <a:cs typeface="Times New Roman" pitchFamily="18" charset="0"/>
              </a:rPr>
              <a:t>Uml</a:t>
            </a:r>
            <a:r>
              <a:rPr lang="en-US" sz="4000" b="1" dirty="0" smtClean="0">
                <a:latin typeface="Times New Roman" pitchFamily="18" charset="0"/>
                <a:cs typeface="Times New Roman" pitchFamily="18" charset="0"/>
              </a:rPr>
              <a:t> Diagrams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b="1" dirty="0" smtClean="0">
                <a:latin typeface="Times New Roman" pitchFamily="18" charset="0"/>
                <a:cs typeface="Times New Roman" pitchFamily="18" charset="0"/>
              </a:rPr>
              <a:t>USE CASE </a:t>
            </a:r>
            <a:r>
              <a:rPr lang="en-US" sz="2000" b="1" dirty="0" smtClean="0">
                <a:latin typeface="Times New Roman" pitchFamily="18" charset="0"/>
                <a:cs typeface="Times New Roman" pitchFamily="18" charset="0"/>
              </a:rPr>
              <a:t>DIAGRAM</a:t>
            </a: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1905000" y="2209800"/>
            <a:ext cx="5486400" cy="401334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Class Diagram</a:t>
            </a:r>
            <a:endParaRPr lang="en-US" sz="4000" dirty="0">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981200" y="2286000"/>
            <a:ext cx="5638800" cy="2667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Sequence Diagram</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295400" y="1752600"/>
            <a:ext cx="6400800" cy="44196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Activity Diagram</a:t>
            </a:r>
            <a:endParaRPr lang="en-US" sz="4000" dirty="0">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524000" y="2590801"/>
            <a:ext cx="5638800" cy="25146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Data Flow </a:t>
            </a:r>
            <a:endParaRPr lang="en-US" sz="4000" dirty="0">
              <a:latin typeface="Times New Roman" pitchFamily="18" charset="0"/>
              <a:cs typeface="Times New Roman" pitchFamily="18" charset="0"/>
            </a:endParaRPr>
          </a:p>
        </p:txBody>
      </p:sp>
      <p:pic>
        <p:nvPicPr>
          <p:cNvPr id="4" name="Content Placeholder 3" descr="Logistics dynamic information retrieval based on blockchain data security  model | Discover Applied Sciences"/>
          <p:cNvPicPr>
            <a:picLocks noGrp="1"/>
          </p:cNvPicPr>
          <p:nvPr>
            <p:ph idx="1"/>
          </p:nvPr>
        </p:nvPicPr>
        <p:blipFill>
          <a:blip r:embed="rId2"/>
          <a:srcRect/>
          <a:stretch>
            <a:fillRect/>
          </a:stretch>
        </p:blipFill>
        <p:spPr bwMode="auto">
          <a:xfrm>
            <a:off x="1981200" y="1600200"/>
            <a:ext cx="4953000" cy="4525963"/>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Flow Chat </a:t>
            </a:r>
            <a:endParaRPr lang="en-US" sz="4000" dirty="0">
              <a:latin typeface="Times New Roman" pitchFamily="18" charset="0"/>
              <a:cs typeface="Times New Roman" pitchFamily="18" charset="0"/>
            </a:endParaRPr>
          </a:p>
        </p:txBody>
      </p:sp>
      <p:pic>
        <p:nvPicPr>
          <p:cNvPr id="4" name="Content Placeholder 3" descr="Sensors | Free Full-Text | Applying Access Control Enabled Blockchain  (ACE-BC) Framework to Manage Data Security in the CIS System"/>
          <p:cNvPicPr>
            <a:picLocks noGrp="1"/>
          </p:cNvPicPr>
          <p:nvPr>
            <p:ph idx="1"/>
          </p:nvPr>
        </p:nvPicPr>
        <p:blipFill>
          <a:blip r:embed="rId2" cstate="print"/>
          <a:srcRect/>
          <a:stretch>
            <a:fillRect/>
          </a:stretch>
        </p:blipFill>
        <p:spPr bwMode="auto">
          <a:xfrm>
            <a:off x="1371600" y="1600200"/>
            <a:ext cx="6019800" cy="452596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Activity</a:t>
            </a:r>
            <a:endParaRPr lang="en-US" sz="4000" dirty="0">
              <a:latin typeface="Times New Roman" pitchFamily="18" charset="0"/>
              <a:cs typeface="Times New Roman" pitchFamily="18" charset="0"/>
            </a:endParaRPr>
          </a:p>
        </p:txBody>
      </p:sp>
      <p:pic>
        <p:nvPicPr>
          <p:cNvPr id="4" name="Content Placeholder 3" descr="Logistics dynamic information retrieval based on blockchain data security  model | Discover Applied Sciences"/>
          <p:cNvPicPr>
            <a:picLocks noGrp="1"/>
          </p:cNvPicPr>
          <p:nvPr>
            <p:ph idx="1"/>
          </p:nvPr>
        </p:nvPicPr>
        <p:blipFill>
          <a:blip r:embed="rId2"/>
          <a:srcRect/>
          <a:stretch>
            <a:fillRect/>
          </a:stretch>
        </p:blipFill>
        <p:spPr bwMode="auto">
          <a:xfrm>
            <a:off x="609600" y="1905794"/>
            <a:ext cx="7619999" cy="391477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itchFamily="18" charset="0"/>
                <a:cs typeface="Times New Roman" pitchFamily="18" charset="0"/>
              </a:rPr>
              <a:t>Conclusion</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US" sz="1600" dirty="0" smtClean="0">
                <a:latin typeface="Times New Roman" pitchFamily="18" charset="0"/>
                <a:cs typeface="Times New Roman" pitchFamily="18" charset="0"/>
              </a:rPr>
              <a:t>The integration of Ant Colony Optimization (ACO) and </a:t>
            </a:r>
            <a:r>
              <a:rPr lang="en-US" sz="1600" dirty="0" err="1" smtClean="0">
                <a:latin typeface="Times New Roman" pitchFamily="18" charset="0"/>
                <a:cs typeface="Times New Roman" pitchFamily="18" charset="0"/>
              </a:rPr>
              <a:t>Blockchain</a:t>
            </a:r>
            <a:r>
              <a:rPr lang="en-US" sz="1600" dirty="0" smtClean="0">
                <a:latin typeface="Times New Roman" pitchFamily="18" charset="0"/>
                <a:cs typeface="Times New Roman" pitchFamily="18" charset="0"/>
              </a:rPr>
              <a:t> technology presents a powerful solution to the dual challenges of data search efficiency and security in logistics information management. Traditional systems, while functional, often fall short in addressing the complexities and vulnerabilities inherent in modern logistics operations. The proposed system leverages the strengths of ACO to optimize data retrieval processes, ensuring rapid and accurate access to logistics information. Concurrently, </a:t>
            </a:r>
            <a:r>
              <a:rPr lang="en-US" sz="1600" dirty="0" err="1" smtClean="0">
                <a:latin typeface="Times New Roman" pitchFamily="18" charset="0"/>
                <a:cs typeface="Times New Roman" pitchFamily="18" charset="0"/>
              </a:rPr>
              <a:t>Blockchain</a:t>
            </a:r>
            <a:r>
              <a:rPr lang="en-US" sz="1600" dirty="0" smtClean="0">
                <a:latin typeface="Times New Roman" pitchFamily="18" charset="0"/>
                <a:cs typeface="Times New Roman" pitchFamily="18" charset="0"/>
              </a:rPr>
              <a:t> technology provides a robust, decentralized framework that guarantees data integrity, transparency, and security through its immutable ledger and cryptographic </a:t>
            </a:r>
            <a:r>
              <a:rPr lang="en-US" sz="1600" dirty="0" err="1" smtClean="0">
                <a:latin typeface="Times New Roman" pitchFamily="18" charset="0"/>
                <a:cs typeface="Times New Roman" pitchFamily="18" charset="0"/>
              </a:rPr>
              <a:t>protocols.This</a:t>
            </a:r>
            <a:r>
              <a:rPr lang="en-US" sz="1600" dirty="0" smtClean="0">
                <a:latin typeface="Times New Roman" pitchFamily="18" charset="0"/>
                <a:cs typeface="Times New Roman" pitchFamily="18" charset="0"/>
              </a:rPr>
              <a:t> innovative approach offers several key advantages, including enhanced search efficiency, improved data security, increased transparency and trust among stakeholders, reduced operational costs, and greater system resilience. By automating processes and ensuring data authenticity, the system fosters more efficient and reliable logistics operations, addressing both current needs and future scalability </a:t>
            </a:r>
            <a:r>
              <a:rPr lang="en-US" sz="1600" dirty="0" err="1" smtClean="0">
                <a:latin typeface="Times New Roman" pitchFamily="18" charset="0"/>
                <a:cs typeface="Times New Roman" pitchFamily="18" charset="0"/>
              </a:rPr>
              <a:t>requirements.The</a:t>
            </a:r>
            <a:r>
              <a:rPr lang="en-US" sz="1600" dirty="0" smtClean="0">
                <a:latin typeface="Times New Roman" pitchFamily="18" charset="0"/>
                <a:cs typeface="Times New Roman" pitchFamily="18" charset="0"/>
              </a:rPr>
              <a:t> experimental results have demonstrated the effectiveness of this integrated system, highlighting its potential to revolutionize logistics information management. As logistics networks continue to grow in complexity, the need for such advanced solutions becomes increasingly critical. The proposed integration of ACO and </a:t>
            </a:r>
            <a:r>
              <a:rPr lang="en-US" sz="1600" dirty="0" err="1" smtClean="0">
                <a:latin typeface="Times New Roman" pitchFamily="18" charset="0"/>
                <a:cs typeface="Times New Roman" pitchFamily="18" charset="0"/>
              </a:rPr>
              <a:t>Blockchain</a:t>
            </a:r>
            <a:r>
              <a:rPr lang="en-US" sz="1600" dirty="0" smtClean="0">
                <a:latin typeface="Times New Roman" pitchFamily="18" charset="0"/>
                <a:cs typeface="Times New Roman" pitchFamily="18" charset="0"/>
              </a:rPr>
              <a:t> not only meets this need but also sets a new standard for secure and efficient logistics data management.</a:t>
            </a:r>
          </a:p>
          <a:p>
            <a:pPr algn="just"/>
            <a:r>
              <a:rPr lang="en-US" sz="1600" dirty="0" smtClean="0">
                <a:latin typeface="Times New Roman" pitchFamily="18" charset="0"/>
                <a:cs typeface="Times New Roman" pitchFamily="18" charset="0"/>
              </a:rPr>
              <a:t> </a:t>
            </a:r>
          </a:p>
          <a:p>
            <a:pPr algn="just"/>
            <a:endParaRPr lang="en-US" sz="16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References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lvl="0" algn="just">
              <a:buFont typeface="+mj-lt"/>
              <a:buAutoNum type="arabicPeriod"/>
            </a:pPr>
            <a:r>
              <a:rPr lang="en-US" sz="1800" dirty="0" smtClean="0">
                <a:latin typeface="Times New Roman" pitchFamily="18" charset="0"/>
                <a:cs typeface="Times New Roman" pitchFamily="18" charset="0"/>
              </a:rPr>
              <a:t>Bell, J. E., &amp; McMullen, P. R. (2004). Ant colony optimization techniques for the vehicle routing problem. </a:t>
            </a:r>
            <a:r>
              <a:rPr lang="en-US" sz="1800" i="1" dirty="0" smtClean="0">
                <a:latin typeface="Times New Roman" pitchFamily="18" charset="0"/>
                <a:cs typeface="Times New Roman" pitchFamily="18" charset="0"/>
              </a:rPr>
              <a:t>Advanced Engineering Informatics</a:t>
            </a:r>
            <a:r>
              <a:rPr lang="en-US" sz="1800" dirty="0" smtClean="0">
                <a:latin typeface="Times New Roman" pitchFamily="18" charset="0"/>
                <a:cs typeface="Times New Roman" pitchFamily="18" charset="0"/>
              </a:rPr>
              <a:t>, 18(1), 41-48.</a:t>
            </a:r>
          </a:p>
          <a:p>
            <a:pPr lvl="0" algn="just">
              <a:buFont typeface="+mj-lt"/>
              <a:buAutoNum type="arabicPeriod"/>
            </a:pPr>
            <a:r>
              <a:rPr lang="en-US" sz="1800" dirty="0" err="1" smtClean="0">
                <a:latin typeface="Times New Roman" pitchFamily="18" charset="0"/>
                <a:cs typeface="Times New Roman" pitchFamily="18" charset="0"/>
              </a:rPr>
              <a:t>Reimann</a:t>
            </a:r>
            <a:r>
              <a:rPr lang="en-US" sz="1800" dirty="0" smtClean="0">
                <a:latin typeface="Times New Roman" pitchFamily="18" charset="0"/>
                <a:cs typeface="Times New Roman" pitchFamily="18" charset="0"/>
              </a:rPr>
              <a:t>, M., </a:t>
            </a:r>
            <a:r>
              <a:rPr lang="en-US" sz="1800" dirty="0" err="1" smtClean="0">
                <a:latin typeface="Times New Roman" pitchFamily="18" charset="0"/>
                <a:cs typeface="Times New Roman" pitchFamily="18" charset="0"/>
              </a:rPr>
              <a:t>Doerner</a:t>
            </a:r>
            <a:r>
              <a:rPr lang="en-US" sz="1800" dirty="0" smtClean="0">
                <a:latin typeface="Times New Roman" pitchFamily="18" charset="0"/>
                <a:cs typeface="Times New Roman" pitchFamily="18" charset="0"/>
              </a:rPr>
              <a:t>, K. F., &amp; </a:t>
            </a:r>
            <a:r>
              <a:rPr lang="en-US" sz="1800" dirty="0" err="1" smtClean="0">
                <a:latin typeface="Times New Roman" pitchFamily="18" charset="0"/>
                <a:cs typeface="Times New Roman" pitchFamily="18" charset="0"/>
              </a:rPr>
              <a:t>Hartl</a:t>
            </a:r>
            <a:r>
              <a:rPr lang="en-US" sz="1800" dirty="0" smtClean="0">
                <a:latin typeface="Times New Roman" pitchFamily="18" charset="0"/>
                <a:cs typeface="Times New Roman" pitchFamily="18" charset="0"/>
              </a:rPr>
              <a:t>, R. F. (2004). D-Ants: Savings based ants divide and conquer the vehicle routing problem. </a:t>
            </a:r>
            <a:r>
              <a:rPr lang="en-US" sz="1800" i="1" dirty="0" smtClean="0">
                <a:latin typeface="Times New Roman" pitchFamily="18" charset="0"/>
                <a:cs typeface="Times New Roman" pitchFamily="18" charset="0"/>
              </a:rPr>
              <a:t>Computers &amp; Operations Research</a:t>
            </a:r>
            <a:r>
              <a:rPr lang="en-US" sz="1800" dirty="0" smtClean="0">
                <a:latin typeface="Times New Roman" pitchFamily="18" charset="0"/>
                <a:cs typeface="Times New Roman" pitchFamily="18" charset="0"/>
              </a:rPr>
              <a:t>, 31(4), 563-591.</a:t>
            </a:r>
          </a:p>
          <a:p>
            <a:pPr lvl="0" algn="just">
              <a:buFont typeface="+mj-lt"/>
              <a:buAutoNum type="arabicPeriod"/>
            </a:pPr>
            <a:r>
              <a:rPr lang="en-US" sz="1800" dirty="0" err="1" smtClean="0">
                <a:latin typeface="Times New Roman" pitchFamily="18" charset="0"/>
                <a:cs typeface="Times New Roman" pitchFamily="18" charset="0"/>
              </a:rPr>
              <a:t>Hu</a:t>
            </a:r>
            <a:r>
              <a:rPr lang="en-US" sz="1800" dirty="0" smtClean="0">
                <a:latin typeface="Times New Roman" pitchFamily="18" charset="0"/>
                <a:cs typeface="Times New Roman" pitchFamily="18" charset="0"/>
              </a:rPr>
              <a:t>, X., Di Paolo, E., &amp; </a:t>
            </a:r>
            <a:r>
              <a:rPr lang="en-US" sz="1800" dirty="0" err="1" smtClean="0">
                <a:latin typeface="Times New Roman" pitchFamily="18" charset="0"/>
                <a:cs typeface="Times New Roman" pitchFamily="18" charset="0"/>
              </a:rPr>
              <a:t>Chio</a:t>
            </a:r>
            <a:r>
              <a:rPr lang="en-US" sz="1800" dirty="0" smtClean="0">
                <a:latin typeface="Times New Roman" pitchFamily="18" charset="0"/>
                <a:cs typeface="Times New Roman" pitchFamily="18" charset="0"/>
              </a:rPr>
              <a:t>, C. (2015). Optimization of the warehouse operation and storage allocation in large scale distribution centers. </a:t>
            </a:r>
            <a:r>
              <a:rPr lang="en-US" sz="1800" i="1" dirty="0" smtClean="0">
                <a:latin typeface="Times New Roman" pitchFamily="18" charset="0"/>
                <a:cs typeface="Times New Roman" pitchFamily="18" charset="0"/>
              </a:rPr>
              <a:t>Journal of Intelligent Manufacturing</a:t>
            </a:r>
            <a:r>
              <a:rPr lang="en-US" sz="1800" dirty="0" smtClean="0">
                <a:latin typeface="Times New Roman" pitchFamily="18" charset="0"/>
                <a:cs typeface="Times New Roman" pitchFamily="18" charset="0"/>
              </a:rPr>
              <a:t>, 26(4), 679-689.</a:t>
            </a:r>
          </a:p>
          <a:p>
            <a:pPr lvl="0" algn="just">
              <a:buFont typeface="+mj-lt"/>
              <a:buAutoNum type="arabicPeriod"/>
            </a:pPr>
            <a:r>
              <a:rPr lang="en-US" sz="1800" dirty="0" err="1" smtClean="0">
                <a:latin typeface="Times New Roman" pitchFamily="18" charset="0"/>
                <a:cs typeface="Times New Roman" pitchFamily="18" charset="0"/>
              </a:rPr>
              <a:t>Tian</a:t>
            </a:r>
            <a:r>
              <a:rPr lang="en-US" sz="1800" dirty="0" smtClean="0">
                <a:latin typeface="Times New Roman" pitchFamily="18" charset="0"/>
                <a:cs typeface="Times New Roman" pitchFamily="18" charset="0"/>
              </a:rPr>
              <a:t>, F. (2016). An </a:t>
            </a:r>
            <a:r>
              <a:rPr lang="en-US" sz="1800" dirty="0" err="1" smtClean="0">
                <a:latin typeface="Times New Roman" pitchFamily="18" charset="0"/>
                <a:cs typeface="Times New Roman" pitchFamily="18" charset="0"/>
              </a:rPr>
              <a:t>agri</a:t>
            </a:r>
            <a:r>
              <a:rPr lang="en-US" sz="1800" dirty="0" smtClean="0">
                <a:latin typeface="Times New Roman" pitchFamily="18" charset="0"/>
                <a:cs typeface="Times New Roman" pitchFamily="18" charset="0"/>
              </a:rPr>
              <a:t>-food supply chain traceability system for China based on RFID &amp; </a:t>
            </a:r>
            <a:r>
              <a:rPr lang="en-US" sz="1800" dirty="0" err="1" smtClean="0">
                <a:latin typeface="Times New Roman" pitchFamily="18" charset="0"/>
                <a:cs typeface="Times New Roman" pitchFamily="18" charset="0"/>
              </a:rPr>
              <a:t>Blockchain</a:t>
            </a:r>
            <a:r>
              <a:rPr lang="en-US" sz="1800" dirty="0" smtClean="0">
                <a:latin typeface="Times New Roman" pitchFamily="18" charset="0"/>
                <a:cs typeface="Times New Roman" pitchFamily="18" charset="0"/>
              </a:rPr>
              <a:t> technology. </a:t>
            </a:r>
            <a:r>
              <a:rPr lang="en-US" sz="1800" i="1" dirty="0" smtClean="0">
                <a:latin typeface="Times New Roman" pitchFamily="18" charset="0"/>
                <a:cs typeface="Times New Roman" pitchFamily="18" charset="0"/>
              </a:rPr>
              <a:t>11th International Conference on Service Systems and Service Management (ICSSSM)</a:t>
            </a:r>
            <a:r>
              <a:rPr lang="en-US" sz="1800" dirty="0" smtClean="0">
                <a:latin typeface="Times New Roman" pitchFamily="18" charset="0"/>
                <a:cs typeface="Times New Roman" pitchFamily="18" charset="0"/>
              </a:rPr>
              <a:t>, 1-6.</a:t>
            </a:r>
          </a:p>
          <a:p>
            <a:pPr lvl="0" algn="just">
              <a:buFont typeface="+mj-lt"/>
              <a:buAutoNum type="arabicPeriod"/>
            </a:pPr>
            <a:r>
              <a:rPr lang="en-US" sz="1800" dirty="0" err="1" smtClean="0">
                <a:latin typeface="Times New Roman" pitchFamily="18" charset="0"/>
                <a:cs typeface="Times New Roman" pitchFamily="18" charset="0"/>
              </a:rPr>
              <a:t>Kshetri</a:t>
            </a:r>
            <a:r>
              <a:rPr lang="en-US" sz="1800" dirty="0" smtClean="0">
                <a:latin typeface="Times New Roman" pitchFamily="18" charset="0"/>
                <a:cs typeface="Times New Roman" pitchFamily="18" charset="0"/>
              </a:rPr>
              <a:t>, N. (2018). 1 </a:t>
            </a:r>
            <a:r>
              <a:rPr lang="en-US" sz="1800" dirty="0" err="1" smtClean="0">
                <a:latin typeface="Times New Roman" pitchFamily="18" charset="0"/>
                <a:cs typeface="Times New Roman" pitchFamily="18" charset="0"/>
              </a:rPr>
              <a:t>Blockchain’s</a:t>
            </a:r>
            <a:r>
              <a:rPr lang="en-US" sz="1800" dirty="0" smtClean="0">
                <a:latin typeface="Times New Roman" pitchFamily="18" charset="0"/>
                <a:cs typeface="Times New Roman" pitchFamily="18" charset="0"/>
              </a:rPr>
              <a:t> roles in meeting key supply chain management objectives. </a:t>
            </a:r>
            <a:r>
              <a:rPr lang="en-US" sz="1800" i="1" dirty="0" smtClean="0">
                <a:latin typeface="Times New Roman" pitchFamily="18" charset="0"/>
                <a:cs typeface="Times New Roman" pitchFamily="18" charset="0"/>
              </a:rPr>
              <a:t>International Journal of Information Management</a:t>
            </a:r>
            <a:r>
              <a:rPr lang="en-US" sz="1800" dirty="0" smtClean="0">
                <a:latin typeface="Times New Roman" pitchFamily="18" charset="0"/>
                <a:cs typeface="Times New Roman" pitchFamily="18" charset="0"/>
              </a:rPr>
              <a:t>, 39, 80-89.</a:t>
            </a:r>
          </a:p>
          <a:p>
            <a:pPr algn="just">
              <a:buFont typeface="+mj-lt"/>
              <a:buAutoNum type="arabicPeriod"/>
            </a:pPr>
            <a:endParaRPr lang="en-US" sz="18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1790</Words>
  <Application>Microsoft Office PowerPoint</Application>
  <PresentationFormat>On-screen Show (4:3)</PresentationFormat>
  <Paragraphs>69</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Ensuring the Security of Logistics Information &amp; Data Searching using Ant Colony Optimization &amp; Blockchain  </vt:lpstr>
      <vt:lpstr>Abstract</vt:lpstr>
      <vt:lpstr>Introduction </vt:lpstr>
      <vt:lpstr>Literature Survey</vt:lpstr>
      <vt:lpstr>Literature Survey Contd.,</vt:lpstr>
      <vt:lpstr>Existing System </vt:lpstr>
      <vt:lpstr> Draw Backs  </vt:lpstr>
      <vt:lpstr>Proposed System </vt:lpstr>
      <vt:lpstr> Advantages of the Proposed System </vt:lpstr>
      <vt:lpstr> System Requirements </vt:lpstr>
      <vt:lpstr> System Architecture </vt:lpstr>
      <vt:lpstr>Uml Diagrams</vt:lpstr>
      <vt:lpstr>Class Diagram</vt:lpstr>
      <vt:lpstr> Sequence Diagram </vt:lpstr>
      <vt:lpstr>Activity Diagram</vt:lpstr>
      <vt:lpstr>Data Flow </vt:lpstr>
      <vt:lpstr>Flow Chat </vt:lpstr>
      <vt:lpstr>Activity</vt:lpstr>
      <vt:lpstr>Conclusion</vt:lpstr>
      <vt:lpstr> References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Ensuring the Security of Logistics Information &amp; Data Searching using Ant Colony Optimization &amp; Blockchain  </dc:title>
  <dc:creator>sys5</dc:creator>
  <cp:lastModifiedBy>sys5</cp:lastModifiedBy>
  <cp:revision>2</cp:revision>
  <dcterms:created xsi:type="dcterms:W3CDTF">2006-08-16T00:00:00Z</dcterms:created>
  <dcterms:modified xsi:type="dcterms:W3CDTF">2025-04-23T10:41:59Z</dcterms:modified>
</cp:coreProperties>
</file>